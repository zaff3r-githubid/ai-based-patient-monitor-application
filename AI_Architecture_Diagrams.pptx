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233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Zafar Adil" userId="7c8328480ec74855" providerId="LiveId" clId="{5C2C1E32-6879-4741-AFC3-306EC394E695}"/>
    <pc:docChg chg="undo custSel modSld">
      <pc:chgData name="Mohammad Zafar Adil" userId="7c8328480ec74855" providerId="LiveId" clId="{5C2C1E32-6879-4741-AFC3-306EC394E695}" dt="2026-02-09T01:10:03.180" v="7" actId="404"/>
      <pc:docMkLst>
        <pc:docMk/>
      </pc:docMkLst>
      <pc:sldChg chg="modSp mod">
        <pc:chgData name="Mohammad Zafar Adil" userId="7c8328480ec74855" providerId="LiveId" clId="{5C2C1E32-6879-4741-AFC3-306EC394E695}" dt="2026-02-09T01:10:03.180" v="7" actId="404"/>
        <pc:sldMkLst>
          <pc:docMk/>
          <pc:sldMk cId="0" sldId="259"/>
        </pc:sldMkLst>
        <pc:spChg chg="mod">
          <ac:chgData name="Mohammad Zafar Adil" userId="7c8328480ec74855" providerId="LiveId" clId="{5C2C1E32-6879-4741-AFC3-306EC394E695}" dt="2026-02-09T01:10:03.180" v="7" actId="404"/>
          <ac:spMkLst>
            <pc:docMk/>
            <pc:sldMk cId="0" sldId="259"/>
            <ac:spMk id="3" creationId="{00000000-0000-0000-0000-000000000000}"/>
          </ac:spMkLst>
        </pc:spChg>
        <pc:spChg chg="mod">
          <ac:chgData name="Mohammad Zafar Adil" userId="7c8328480ec74855" providerId="LiveId" clId="{5C2C1E32-6879-4741-AFC3-306EC394E695}" dt="2026-02-09T01:10:00.830" v="4" actId="14100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AI-Based Patient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ADCFC"/>
                </a:solidFill>
              </a:defRPr>
            </a:pPr>
            <a:r>
              <a:t>System Architecture &amp;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ADCFC"/>
                </a:solidFill>
              </a:defRPr>
            </a:pPr>
            <a:r>
              <a:t>AI Practitioner Crash Course | Assignment #8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High-Level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7315200" cy="73152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User Interface Layer</a:t>
            </a:r>
          </a:p>
          <a:p>
            <a:r>
              <a:t>(Streamlit Web App)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3474720" cy="109728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6454F"/>
                </a:solidFill>
              </a:defRPr>
            </a:pPr>
            <a:r>
              <a:t>Data Processing</a:t>
            </a:r>
          </a:p>
          <a:p>
            <a:r>
              <a:t>• CSV Parser</a:t>
            </a:r>
          </a:p>
          <a:p>
            <a:r>
              <a:t>• Pandas DataFrame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286000"/>
            <a:ext cx="3474720" cy="109728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6454F"/>
                </a:solidFill>
              </a:defRPr>
            </a:pPr>
            <a:r>
              <a:t>Clinical Engine</a:t>
            </a:r>
          </a:p>
          <a:p>
            <a:r>
              <a:t>• Rule-based Detection</a:t>
            </a:r>
          </a:p>
          <a:p>
            <a:r>
              <a:t>• Severity Classification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7315200" cy="1097280"/>
          </a:xfrm>
          <a:prstGeom prst="roundRect">
            <a:avLst/>
          </a:prstGeom>
          <a:solidFill>
            <a:srgbClr val="84B59F"/>
          </a:solidFill>
          <a:ln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AI/RAG Layer</a:t>
            </a:r>
          </a:p>
          <a:p>
            <a:r>
              <a:t>• Context Builder • OpenAI API • Response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03520"/>
            <a:ext cx="7315200" cy="731520"/>
          </a:xfrm>
          <a:prstGeom prst="round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Observability Layer</a:t>
            </a:r>
          </a:p>
          <a:p>
            <a:r>
              <a:t>• Token Tracking • Latency Monitoring • Error Handling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920240"/>
            <a:ext cx="0" cy="36576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3383280"/>
            <a:ext cx="0" cy="45720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4937760"/>
            <a:ext cx="0" cy="36576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Data Flow &amp; 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743200" cy="73152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Data Ingestion</a:t>
            </a:r>
          </a:p>
          <a:p>
            <a:r>
              <a:t>CSV Upload or</a:t>
            </a:r>
          </a:p>
          <a:p>
            <a:r>
              <a:t>Sample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2743200" cy="73152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6454F"/>
                </a:solidFill>
              </a:defRPr>
            </a:pPr>
            <a:r>
              <a:t>2. Validation</a:t>
            </a:r>
          </a:p>
          <a:p>
            <a:r>
              <a:t>Column Check</a:t>
            </a:r>
          </a:p>
          <a:p>
            <a:r>
              <a:t>Type Conversion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2743200" cy="73152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6454F"/>
                </a:solidFill>
              </a:defRPr>
            </a:pPr>
            <a:r>
              <a:t>3. Analysis</a:t>
            </a:r>
          </a:p>
          <a:p>
            <a:r>
              <a:t>Vitals Calculation</a:t>
            </a:r>
          </a:p>
          <a:p>
            <a:r>
              <a:t>MAP Computation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2743200" cy="731520"/>
          </a:xfrm>
          <a:prstGeom prst="roundRect">
            <a:avLst/>
          </a:prstGeom>
          <a:solidFill>
            <a:srgbClr val="84B59F"/>
          </a:solidFill>
          <a:ln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Detection</a:t>
            </a:r>
          </a:p>
          <a:p>
            <a:r>
              <a:t>Rule Evaluation</a:t>
            </a:r>
          </a:p>
          <a:p>
            <a:r>
              <a:t>Severity Assignment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2743200" cy="731520"/>
          </a:xfrm>
          <a:prstGeom prst="round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AI Processing</a:t>
            </a:r>
          </a:p>
          <a:p>
            <a:r>
              <a:t>RAG Context Build</a:t>
            </a:r>
          </a:p>
          <a:p>
            <a:r>
              <a:t>LLM 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645920"/>
            <a:ext cx="3200400" cy="1371600"/>
          </a:xfrm>
          <a:prstGeom prst="roundRect">
            <a:avLst/>
          </a:prstGeom>
          <a:solidFill>
            <a:srgbClr val="F0F0F5"/>
          </a:solidFill>
          <a:ln>
            <a:solidFill>
              <a:srgbClr val="F0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6454F"/>
                </a:solidFill>
              </a:defRPr>
            </a:pPr>
            <a:r>
              <a:t>Visual Outputs</a:t>
            </a:r>
          </a:p>
          <a:p>
            <a:endParaRPr/>
          </a:p>
          <a:p>
            <a:r>
              <a:t>• Alert Level Chip</a:t>
            </a:r>
          </a:p>
          <a:p>
            <a:r>
              <a:t>• Diagnosis Display</a:t>
            </a:r>
          </a:p>
          <a:p>
            <a:r>
              <a:t>• Trend Charts</a:t>
            </a:r>
          </a:p>
          <a:p>
            <a:r>
              <a:t>• Vital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474720"/>
            <a:ext cx="3200400" cy="1371600"/>
          </a:xfrm>
          <a:prstGeom prst="roundRect">
            <a:avLst/>
          </a:prstGeom>
          <a:solidFill>
            <a:srgbClr val="F0F0F5"/>
          </a:solidFill>
          <a:ln>
            <a:solidFill>
              <a:srgbClr val="F0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6454F"/>
                </a:solidFill>
              </a:defRPr>
            </a:pPr>
            <a:r>
              <a:t>AI Outputs</a:t>
            </a:r>
          </a:p>
          <a:p>
            <a:endParaRPr/>
          </a:p>
          <a:p>
            <a:r>
              <a:t>• Nurse Actions</a:t>
            </a:r>
          </a:p>
          <a:p>
            <a:r>
              <a:t>• Escalation Plan</a:t>
            </a:r>
          </a:p>
          <a:p>
            <a:r>
              <a:t>• Token Usage</a:t>
            </a:r>
          </a:p>
          <a:p>
            <a:r>
              <a:t>• Latency Stats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1463040"/>
            <a:ext cx="0" cy="36576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0" y="2560320"/>
            <a:ext cx="0" cy="36576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0" y="3657600"/>
            <a:ext cx="0" cy="36576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0" y="4754880"/>
            <a:ext cx="0" cy="36576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200400" y="2286000"/>
            <a:ext cx="1828800" cy="45720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200400" y="4114800"/>
            <a:ext cx="1828800" cy="100584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RAG (Retrieval Augmented Generation)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6454F"/>
                </a:solidFill>
              </a:defRPr>
            </a:pPr>
            <a:r>
              <a:rPr dirty="0"/>
              <a:t>RETRIEVAL</a:t>
            </a:r>
          </a:p>
          <a:p>
            <a:endParaRPr dirty="0"/>
          </a:p>
          <a:p>
            <a:r>
              <a:rPr dirty="0"/>
              <a:t>• Load patient CSV</a:t>
            </a:r>
          </a:p>
          <a:p>
            <a:r>
              <a:rPr dirty="0"/>
              <a:t>• Extract 60min vitals</a:t>
            </a:r>
          </a:p>
          <a:p>
            <a:r>
              <a:rPr dirty="0"/>
              <a:t>• Format as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371600"/>
            <a:ext cx="2560320" cy="1097280"/>
          </a:xfrm>
          <a:prstGeom prst="roundRect">
            <a:avLst/>
          </a:prstGeom>
          <a:solidFill>
            <a:srgbClr val="84B59F"/>
          </a:solidFill>
          <a:ln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AUGMENTATION</a:t>
            </a:r>
          </a:p>
          <a:p>
            <a:endParaRPr dirty="0"/>
          </a:p>
          <a:p>
            <a:r>
              <a:rPr dirty="0"/>
              <a:t>• Combine vitals data</a:t>
            </a:r>
          </a:p>
          <a:p>
            <a:r>
              <a:rPr dirty="0"/>
              <a:t>• Add diagnosis summary</a:t>
            </a:r>
          </a:p>
          <a:p>
            <a:r>
              <a:rPr dirty="0"/>
              <a:t>• Build LLM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1097280"/>
          </a:xfrm>
          <a:prstGeom prst="roundRect">
            <a:avLst/>
          </a:prstGeom>
          <a:solidFill>
            <a:srgbClr val="F96167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GENERATION</a:t>
            </a:r>
          </a:p>
          <a:p>
            <a:endParaRPr/>
          </a:p>
          <a:p>
            <a:r>
              <a:t>• Call OpenAI API</a:t>
            </a:r>
          </a:p>
          <a:p>
            <a:r>
              <a:t>• Parse response</a:t>
            </a:r>
          </a:p>
          <a:p>
            <a:r>
              <a:t>• Extract actions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1920240"/>
            <a:ext cx="274320" cy="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52160" y="1920240"/>
            <a:ext cx="274320" cy="0"/>
          </a:xfrm>
          <a:prstGeom prst="line">
            <a:avLst/>
          </a:prstGeom>
          <a:ln w="25400">
            <a:solidFill>
              <a:srgbClr val="364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926080"/>
            <a:ext cx="8229600" cy="1645920"/>
          </a:xfrm>
          <a:prstGeom prst="roundRect">
            <a:avLst/>
          </a:prstGeom>
          <a:solidFill>
            <a:srgbClr val="F0F0F5"/>
          </a:solidFill>
          <a:ln>
            <a:solidFill>
              <a:srgbClr val="F0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6454F"/>
                </a:solidFill>
              </a:defRPr>
            </a:pPr>
            <a:r>
              <a:t>Sample LLM Prompt Structure</a:t>
            </a:r>
          </a:p>
          <a:p>
            <a:endParaRPr/>
          </a:p>
          <a:p>
            <a:r>
              <a:t>System: You are an ICU clinical decision support AI...</a:t>
            </a:r>
          </a:p>
          <a:p>
            <a:r>
              <a:t>User: {patient_summary: {level: 'EMERGENCY', diagnosis: 'Sepsis', flags: [...]},</a:t>
            </a:r>
          </a:p>
          <a:p>
            <a:r>
              <a:t>       recent_vitals_csv: 'timestamp,HR,BP,...'}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8229600" cy="914400"/>
          </a:xfrm>
          <a:prstGeom prst="roundRect">
            <a:avLst/>
          </a:prstGeom>
          <a:solidFill>
            <a:srgbClr val="FFFAF0"/>
          </a:solidFill>
          <a:ln>
            <a:solidFill>
              <a:srgbClr val="FFF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6454F"/>
                </a:solidFill>
              </a:defRPr>
            </a:pPr>
            <a:r>
              <a:t>AI Observability Metrics</a:t>
            </a:r>
          </a:p>
          <a:p>
            <a:r>
              <a:t>Latency: Response time (seconds) | Tokens: Input + Output + Total | Success Rate: API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Key Components &amp; Technologies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82296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</a:t>
            </a:r>
          </a:p>
          <a:p>
            <a:r>
              <a:t>Streamlit 1.31+</a:t>
            </a:r>
          </a:p>
          <a:p>
            <a:r>
              <a:t>Python web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468880"/>
            <a:ext cx="2560320" cy="82296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Layer</a:t>
            </a:r>
          </a:p>
          <a:p>
            <a:r>
              <a:t>Pandas 2.1+</a:t>
            </a:r>
          </a:p>
          <a:p>
            <a:r>
              <a:t>DataFrame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66160"/>
            <a:ext cx="2560320" cy="82296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Engine</a:t>
            </a:r>
          </a:p>
          <a:p>
            <a:r>
              <a:t>OpenAI GPT-4o-mini</a:t>
            </a:r>
          </a:p>
          <a:p>
            <a:r>
              <a:t>Clinical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82296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6454F"/>
                </a:solidFill>
              </a:defRPr>
            </a:pPr>
            <a:r>
              <a:t>Detection Rules</a:t>
            </a:r>
          </a:p>
          <a:p>
            <a:r>
              <a:t>• Sepsis (multi-factor)</a:t>
            </a:r>
          </a:p>
          <a:p>
            <a:r>
              <a:t>• V-tach (HR + ECG)</a:t>
            </a:r>
          </a:p>
          <a:p>
            <a:r>
              <a:t>• Respiratory failure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468880"/>
            <a:ext cx="2560320" cy="82296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6454F"/>
                </a:solidFill>
              </a:defRPr>
            </a:pPr>
            <a:r>
              <a:rPr dirty="0"/>
              <a:t>Alert System</a:t>
            </a:r>
          </a:p>
          <a:p>
            <a:r>
              <a:rPr dirty="0"/>
              <a:t>• Audio beeps (Web Audio)</a:t>
            </a:r>
          </a:p>
          <a:p>
            <a:r>
              <a:rPr dirty="0"/>
              <a:t>• Visual flash (CSS)</a:t>
            </a:r>
          </a:p>
          <a:p>
            <a:r>
              <a:rPr dirty="0"/>
              <a:t>• Acknowledgment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566160"/>
            <a:ext cx="2560320" cy="82296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6454F"/>
                </a:solidFill>
              </a:defRPr>
            </a:pPr>
            <a:r>
              <a:t>Caching</a:t>
            </a:r>
          </a:p>
          <a:p>
            <a:r>
              <a:t>• Session state</a:t>
            </a:r>
          </a:p>
          <a:p>
            <a:r>
              <a:t>• AI response cache</a:t>
            </a:r>
          </a:p>
          <a:p>
            <a:r>
              <a:t>• Performance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822960"/>
          </a:xfrm>
          <a:prstGeom prst="roundRect">
            <a:avLst/>
          </a:prstGeom>
          <a:solidFill>
            <a:srgbClr val="84B59F"/>
          </a:solidFill>
          <a:ln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Security</a:t>
            </a:r>
          </a:p>
          <a:p>
            <a:r>
              <a:t>• API key protection</a:t>
            </a:r>
          </a:p>
          <a:p>
            <a:r>
              <a:t>• .gitignore rules</a:t>
            </a:r>
          </a:p>
          <a:p>
            <a:r>
              <a:t>• Env variables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68880"/>
            <a:ext cx="2560320" cy="822960"/>
          </a:xfrm>
          <a:prstGeom prst="roundRect">
            <a:avLst/>
          </a:prstGeom>
          <a:solidFill>
            <a:srgbClr val="84B59F"/>
          </a:solidFill>
          <a:ln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QA Features</a:t>
            </a:r>
          </a:p>
          <a:p>
            <a:r>
              <a:t>• Error handling</a:t>
            </a:r>
          </a:p>
          <a:p>
            <a:r>
              <a:t>• Timeout (60s)</a:t>
            </a:r>
          </a:p>
          <a:p>
            <a:r>
              <a:t>• Graceful degradation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566160"/>
            <a:ext cx="2560320" cy="822960"/>
          </a:xfrm>
          <a:prstGeom prst="roundRect">
            <a:avLst/>
          </a:prstGeom>
          <a:solidFill>
            <a:srgbClr val="84B59F"/>
          </a:solidFill>
          <a:ln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Monitoring</a:t>
            </a:r>
          </a:p>
          <a:p>
            <a:r>
              <a:t>• Token usage viz</a:t>
            </a:r>
          </a:p>
          <a:p>
            <a:r>
              <a:t>• Latency tracking</a:t>
            </a:r>
          </a:p>
          <a:p>
            <a:r>
              <a:t>• Success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362</Words>
  <Application>Microsoft Office PowerPoint</Application>
  <PresentationFormat>On-screen Show (4:3)</PresentationFormat>
  <Paragraphs>101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Zafar Adil</cp:lastModifiedBy>
  <cp:revision>1</cp:revision>
  <dcterms:created xsi:type="dcterms:W3CDTF">2013-01-27T09:14:16Z</dcterms:created>
  <dcterms:modified xsi:type="dcterms:W3CDTF">2026-02-09T01:10:31Z</dcterms:modified>
  <cp:category/>
</cp:coreProperties>
</file>