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2334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ad Zafar Adil" userId="7c8328480ec74855" providerId="LiveId" clId="{5C2C1E32-6879-4741-AFC3-306EC394E695}"/>
    <pc:docChg chg="undo custSel modSld">
      <pc:chgData name="Mohammad Zafar Adil" userId="7c8328480ec74855" providerId="LiveId" clId="{5C2C1E32-6879-4741-AFC3-306EC394E695}" dt="2026-02-09T01:10:03.180" v="7" actId="404"/>
      <pc:docMkLst>
        <pc:docMk/>
      </pc:docMkLst>
      <pc:sldChg chg="modSp mod">
        <pc:chgData name="Mohammad Zafar Adil" userId="7c8328480ec74855" providerId="LiveId" clId="{5C2C1E32-6879-4741-AFC3-306EC394E695}" dt="2026-02-09T01:10:03.180" v="7" actId="404"/>
        <pc:sldMkLst>
          <pc:docMk/>
          <pc:sldMk cId="0" sldId="259"/>
        </pc:sldMkLst>
        <pc:spChg chg="mod">
          <ac:chgData name="Mohammad Zafar Adil" userId="7c8328480ec74855" providerId="LiveId" clId="{5C2C1E32-6879-4741-AFC3-306EC394E695}" dt="2026-02-09T01:10:03.180" v="7" actId="404"/>
          <ac:spMkLst>
            <pc:docMk/>
            <pc:sldMk cId="0" sldId="259"/>
            <ac:spMk id="3" creationId="{00000000-0000-0000-0000-000000000000}"/>
          </ac:spMkLst>
        </pc:spChg>
        <pc:spChg chg="mod">
          <ac:chgData name="Mohammad Zafar Adil" userId="7c8328480ec74855" providerId="LiveId" clId="{5C2C1E32-6879-4741-AFC3-306EC394E695}" dt="2026-02-09T01:10:00.830" v="4" actId="14100"/>
          <ac:spMkLst>
            <pc:docMk/>
            <pc:sldMk cId="0" sldId="259"/>
            <ac:spMk id="4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AI-Based Patient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ADCFC"/>
                </a:solidFill>
              </a:defRPr>
            </a:pPr>
            <a:r>
              <a:t>System Architecture &amp; AI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ADCFC"/>
                </a:solidFill>
              </a:defRPr>
            </a:pPr>
            <a:r>
              <a:t>AI Practitioner Crash Course | Assignment #8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761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7315200" cy="73152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User Interface Layer</a:t>
            </a:r>
          </a:p>
          <a:p>
            <a:r>
              <a:t>(Streamlit Web App)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3474720" cy="109728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Data Processing</a:t>
            </a:r>
          </a:p>
          <a:p>
            <a:r>
              <a:t>• CSV Parser</a:t>
            </a:r>
          </a:p>
          <a:p>
            <a:r>
              <a:t>• Pandas DataFrame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2286000"/>
            <a:ext cx="3474720" cy="109728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Clinical Engine</a:t>
            </a:r>
          </a:p>
          <a:p>
            <a:r>
              <a:t>• Rule-based Detection</a:t>
            </a:r>
          </a:p>
          <a:p>
            <a:r>
              <a:t>• Severity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7315200" cy="109728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AI/RAG Layer</a:t>
            </a:r>
          </a:p>
          <a:p>
            <a:r>
              <a:t>• Context Builder • OpenAI API • Response 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303520"/>
            <a:ext cx="7315200" cy="73152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Observability + Governance Layer</a:t>
            </a:r>
            <a:br/>
            <a:r>
              <a:t>• Token + latency tracking</a:t>
            </a:r>
            <a:br/>
            <a:r>
              <a:t>• Fail-open error handling</a:t>
            </a:r>
            <a:br/>
            <a:r>
              <a:t>• Correlation IDs (pm_session_id / pm_run_id)</a:t>
            </a:r>
            <a:br/>
            <a:r>
              <a:t>• Local JSONL event archive</a:t>
            </a:r>
            <a:br/>
            <a:r>
              <a:t>• Splunk HEC logging (ai_inference, alerts)</a:t>
            </a:r>
            <a:br/>
            <a:r>
              <a:t>• Splunk REST summary (Mgmt API 8089)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192024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3383280"/>
            <a:ext cx="0" cy="45720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493776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761"/>
                </a:solidFill>
              </a:defRPr>
            </a:pPr>
            <a:r>
              <a:t>Data Flow &amp; Processing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743200" cy="73152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1. Data Ingestion</a:t>
            </a:r>
          </a:p>
          <a:p>
            <a:r>
              <a:t>CSV Upload or</a:t>
            </a:r>
          </a:p>
          <a:p>
            <a:r>
              <a:t>Sample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2743200" cy="73152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2. Validation</a:t>
            </a:r>
          </a:p>
          <a:p>
            <a:r>
              <a:t>Column Check</a:t>
            </a:r>
          </a:p>
          <a:p>
            <a:r>
              <a:t>Type Conversion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91840"/>
            <a:ext cx="2743200" cy="73152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3. Analysis</a:t>
            </a:r>
          </a:p>
          <a:p>
            <a:r>
              <a:t>Vitals Calculation</a:t>
            </a:r>
          </a:p>
          <a:p>
            <a:r>
              <a:t>MAP Computation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2743200" cy="73152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4. Detection</a:t>
            </a:r>
          </a:p>
          <a:p>
            <a:r>
              <a:t>Rule Evaluation</a:t>
            </a:r>
          </a:p>
          <a:p>
            <a:r>
              <a:t>Severity Assignment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486400"/>
            <a:ext cx="2743200" cy="73152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5. AI Processing</a:t>
            </a:r>
          </a:p>
          <a:p>
            <a:r>
              <a:t>RAG Context Build</a:t>
            </a:r>
          </a:p>
          <a:p>
            <a:r>
              <a:t>LLM 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645920"/>
            <a:ext cx="3200400" cy="1371600"/>
          </a:xfrm>
          <a:prstGeom prst="roundRect">
            <a:avLst/>
          </a:prstGeom>
          <a:solidFill>
            <a:srgbClr val="F0F0F5"/>
          </a:solidFill>
          <a:ln>
            <a:solidFill>
              <a:srgbClr val="F0F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Visual Outputs</a:t>
            </a:r>
          </a:p>
          <a:p>
            <a:endParaRPr/>
          </a:p>
          <a:p>
            <a:r>
              <a:t>• Alert Level Chip</a:t>
            </a:r>
          </a:p>
          <a:p>
            <a:r>
              <a:t>• Diagnosis Display</a:t>
            </a:r>
          </a:p>
          <a:p>
            <a:r>
              <a:t>• Trend Charts</a:t>
            </a:r>
          </a:p>
          <a:p>
            <a:r>
              <a:t>• Vital Metrics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474720"/>
            <a:ext cx="3200400" cy="1371600"/>
          </a:xfrm>
          <a:prstGeom prst="roundRect">
            <a:avLst/>
          </a:prstGeom>
          <a:solidFill>
            <a:srgbClr val="F0F0F5"/>
          </a:solidFill>
          <a:ln>
            <a:solidFill>
              <a:srgbClr val="F0F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AI Outputs</a:t>
            </a:r>
            <a:br/>
            <a:br/>
            <a:r>
              <a:t>• Nurse actions + escalation plan</a:t>
            </a:r>
            <a:br/>
            <a:r>
              <a:t>• Token usage + latency stats</a:t>
            </a:r>
            <a:br/>
            <a:r>
              <a:t>• Estimated cost per run</a:t>
            </a:r>
            <a:br/>
            <a:r>
              <a:t>• Events to Splunk (HEC)</a:t>
            </a:r>
            <a:br/>
            <a:r>
              <a:t>• Run summary (Mgmt API)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0" y="146304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28800" y="256032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28800" y="365760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28800" y="4754880"/>
            <a:ext cx="0" cy="36576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200400" y="2286000"/>
            <a:ext cx="1828800" cy="45720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200400" y="4114800"/>
            <a:ext cx="1828800" cy="100584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761"/>
                </a:solidFill>
              </a:defRPr>
            </a:pPr>
            <a:r>
              <a:t>RAG (Retrieval Augmented Generation)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09728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rPr dirty="0"/>
              <a:t>RETRIEVAL</a:t>
            </a:r>
          </a:p>
          <a:p>
            <a:endParaRPr dirty="0"/>
          </a:p>
          <a:p>
            <a:r>
              <a:rPr dirty="0"/>
              <a:t>• Load patient CSV</a:t>
            </a:r>
          </a:p>
          <a:p>
            <a:r>
              <a:rPr dirty="0"/>
              <a:t>• Extract 60min vitals</a:t>
            </a:r>
          </a:p>
          <a:p>
            <a:r>
              <a:rPr dirty="0"/>
              <a:t>• Format as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1371600"/>
            <a:ext cx="2560320" cy="109728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dirty="0"/>
              <a:t>AUGMENTATION</a:t>
            </a:r>
          </a:p>
          <a:p>
            <a:endParaRPr dirty="0"/>
          </a:p>
          <a:p>
            <a:r>
              <a:rPr dirty="0"/>
              <a:t>• Combine vitals data</a:t>
            </a:r>
          </a:p>
          <a:p>
            <a:r>
              <a:rPr dirty="0"/>
              <a:t>• Add diagnosis summary</a:t>
            </a:r>
          </a:p>
          <a:p>
            <a:r>
              <a:rPr dirty="0"/>
              <a:t>• Build LLM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71600"/>
            <a:ext cx="2560320" cy="1097280"/>
          </a:xfrm>
          <a:prstGeom prst="roundRect">
            <a:avLst/>
          </a:prstGeom>
          <a:solidFill>
            <a:srgbClr val="F96167"/>
          </a:solidFill>
          <a:ln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GENERATION</a:t>
            </a:r>
          </a:p>
          <a:p>
            <a:endParaRPr/>
          </a:p>
          <a:p>
            <a:r>
              <a:t>• Call OpenAI API</a:t>
            </a:r>
          </a:p>
          <a:p>
            <a:r>
              <a:t>• Parse response</a:t>
            </a:r>
          </a:p>
          <a:p>
            <a:r>
              <a:t>• Extract actions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1920240"/>
            <a:ext cx="274320" cy="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52160" y="1920240"/>
            <a:ext cx="274320" cy="0"/>
          </a:xfrm>
          <a:prstGeom prst="line">
            <a:avLst/>
          </a:prstGeom>
          <a:ln w="25400">
            <a:solidFill>
              <a:srgbClr val="3645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926080"/>
            <a:ext cx="8229600" cy="1645920"/>
          </a:xfrm>
          <a:prstGeom prst="roundRect">
            <a:avLst/>
          </a:prstGeom>
          <a:solidFill>
            <a:srgbClr val="F0F0F5"/>
          </a:solidFill>
          <a:ln>
            <a:solidFill>
              <a:srgbClr val="F0F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Sample LLM Prompt Structure</a:t>
            </a:r>
          </a:p>
          <a:p>
            <a:endParaRPr/>
          </a:p>
          <a:p>
            <a:r>
              <a:t>System: You are an ICU clinical decision support AI...</a:t>
            </a:r>
          </a:p>
          <a:p>
            <a:r>
              <a:t>User: {patient_summary: {level: 'EMERGENCY', diagnosis: 'Sepsis', flags: [...]},</a:t>
            </a:r>
          </a:p>
          <a:p>
            <a:r>
              <a:t>       recent_vitals_csv: 'timestamp,HR,BP,...'}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937760"/>
            <a:ext cx="8229600" cy="914400"/>
          </a:xfrm>
          <a:prstGeom prst="roundRect">
            <a:avLst/>
          </a:prstGeom>
          <a:solidFill>
            <a:srgbClr val="FFFAF0"/>
          </a:solidFill>
          <a:ln>
            <a:solidFill>
              <a:srgbClr val="FFF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AI Observability + Governance</a:t>
            </a:r>
            <a:br/>
            <a:r>
              <a:t>Latency (ms) | Tokens (in/out/total) | Success/Failure</a:t>
            </a:r>
            <a:br/>
            <a:r>
              <a:t>Correlation IDs (session/run) | Cost estimate (USD)</a:t>
            </a:r>
            <a:br/>
            <a:r>
              <a:t>Splunk: HEC events + optional REST run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E2761"/>
                </a:solidFill>
              </a:defRPr>
            </a:pPr>
            <a:r>
              <a:t>Key Components &amp; Technologies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82296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r>
              <a:t>Streamlit 1.31+</a:t>
            </a:r>
          </a:p>
          <a:p>
            <a:r>
              <a:t>Python web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2560320" cy="82296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 Layer</a:t>
            </a:r>
          </a:p>
          <a:p>
            <a:r>
              <a:t>Pandas 2.1+</a:t>
            </a:r>
          </a:p>
          <a:p>
            <a:r>
              <a:t>DataFrame 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66160"/>
            <a:ext cx="2560320" cy="822960"/>
          </a:xfrm>
          <a:prstGeom prst="roundRect">
            <a:avLst/>
          </a:prstGeom>
          <a:solidFill>
            <a:srgbClr val="1E2761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AI Engine</a:t>
            </a:r>
          </a:p>
          <a:p>
            <a:r>
              <a:t>OpenAI GPT-4o-mini</a:t>
            </a:r>
          </a:p>
          <a:p>
            <a:r>
              <a:t>Clinical decision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560320" cy="82296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Detection Rules</a:t>
            </a:r>
          </a:p>
          <a:p>
            <a:r>
              <a:t>• Sepsis (multi-factor)</a:t>
            </a:r>
          </a:p>
          <a:p>
            <a:r>
              <a:t>• V-tach (HR + ECG)</a:t>
            </a:r>
          </a:p>
          <a:p>
            <a:r>
              <a:t>• Respiratory failure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2468880"/>
            <a:ext cx="2560320" cy="82296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rPr dirty="0"/>
              <a:t>Alert System</a:t>
            </a:r>
          </a:p>
          <a:p>
            <a:r>
              <a:rPr dirty="0"/>
              <a:t>• Audio beeps (Web Audio)</a:t>
            </a:r>
          </a:p>
          <a:p>
            <a:r>
              <a:rPr dirty="0"/>
              <a:t>• Visual flash (CSS)</a:t>
            </a:r>
          </a:p>
          <a:p>
            <a:r>
              <a:rPr dirty="0"/>
              <a:t>• Acknowledgment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566160"/>
            <a:ext cx="2560320" cy="822960"/>
          </a:xfrm>
          <a:prstGeom prst="roundRect">
            <a:avLst/>
          </a:prstGeom>
          <a:solidFill>
            <a:srgbClr val="CADCFC"/>
          </a:solidFill>
          <a:ln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36454F"/>
                </a:solidFill>
              </a:defRPr>
            </a:pPr>
            <a:r>
              <a:t>Caching</a:t>
            </a:r>
          </a:p>
          <a:p>
            <a:r>
              <a:t>• Session state</a:t>
            </a:r>
          </a:p>
          <a:p>
            <a:r>
              <a:t>• AI response cache</a:t>
            </a:r>
          </a:p>
          <a:p>
            <a:r>
              <a:t>• Performance optimization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60320" cy="82296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Security</a:t>
            </a:r>
          </a:p>
          <a:p>
            <a:r>
              <a:t>• API key protection</a:t>
            </a:r>
          </a:p>
          <a:p>
            <a:r>
              <a:t>• .gitignore rules</a:t>
            </a:r>
          </a:p>
          <a:p>
            <a:r>
              <a:t>• Env variables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468880"/>
            <a:ext cx="2560320" cy="82296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QA Features</a:t>
            </a:r>
          </a:p>
          <a:p>
            <a:r>
              <a:t>• Error handling</a:t>
            </a:r>
          </a:p>
          <a:p>
            <a:r>
              <a:t>• Timeout (60s)</a:t>
            </a:r>
          </a:p>
          <a:p>
            <a:r>
              <a:t>• Graceful degradation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566160"/>
            <a:ext cx="2560320" cy="822960"/>
          </a:xfrm>
          <a:prstGeom prst="roundRect">
            <a:avLst/>
          </a:prstGeom>
          <a:solidFill>
            <a:srgbClr val="84B59F"/>
          </a:solidFill>
          <a:ln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Monitoring / Observability</a:t>
            </a:r>
            <a:br/>
            <a:r>
              <a:t>• Token usage viz + latency tracking</a:t>
            </a:r>
            <a:br/>
            <a:r>
              <a:t>• Success metrics + fail-open handling</a:t>
            </a:r>
            <a:br/>
            <a:r>
              <a:t>• Splunk HEC event ingestion</a:t>
            </a:r>
            <a:br/>
            <a:r>
              <a:t>• Local JSONL archive</a:t>
            </a:r>
            <a:br/>
            <a:r>
              <a:t>• Splunk REST run summary (Mgmt API)</a:t>
            </a:r>
            <a:br/>
            <a:r>
              <a:t>• Cost estimation per token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362</Words>
  <Application>Microsoft Office PowerPoint</Application>
  <PresentationFormat>On-screen Show (4:3)</PresentationFormat>
  <Paragraphs>101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Mohammad Zafar Adil</cp:lastModifiedBy>
  <cp:revision>1</cp:revision>
  <dcterms:created xsi:type="dcterms:W3CDTF">2013-01-27T09:14:16Z</dcterms:created>
  <dcterms:modified xsi:type="dcterms:W3CDTF">2026-02-09T01:10:31Z</dcterms:modified>
  <cp:category/>
</cp:coreProperties>
</file>